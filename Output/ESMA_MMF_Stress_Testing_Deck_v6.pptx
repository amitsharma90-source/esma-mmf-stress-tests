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228F07C8-9F8B-40DB-9AB7-B92332937492}">
          <ns0:sldIdLst>
            <ns0:sldId id="256"/>
          </ns0:sldIdLst>
        </ns0:section>
        <ns0:section name="1 · Why It Exists" id="{FA0EEC86-419D-4D2C-B79F-A6EE2AAD2FDC}">
          <ns0:sldIdLst>
            <ns0:sldId id="257"/>
            <ns0:sldId id="258"/>
            <ns0:sldId id="259"/>
            <ns0:sldId id="260"/>
          </ns0:sldIdLst>
        </ns0:section>
        <ns0:section name="2 · Position Measures" id="{78832A2E-41AB-4623-820E-E3567EC8CB36}">
          <ns0:sldIdLst>
            <ns0:sldId id="261"/>
            <ns0:sldId id="262"/>
            <ns0:sldId id="263"/>
            <ns0:sldId id="264"/>
            <ns0:sldId id="265"/>
            <ns0:sldId id="266"/>
            <ns0:sldId id="267"/>
            <ns0:sldId id="268"/>
          </ns0:sldIdLst>
        </ns0:section>
        <ns0:section name="3 · Market &amp; Redemption" id="{D27C862C-4540-499F-937B-AF2CA00EFD8B}">
          <ns0:sldIdLst>
            <ns0:sldId id="269"/>
            <ns0:sldId id="270"/>
            <ns0:sldId id="271"/>
            <ns0:sldId id="272"/>
            <ns0:sldId id="273"/>
            <ns0:sldId id="274"/>
            <ns0:sldId id="275"/>
            <ns0:sldId id="276"/>
            <ns0:sldId id="277"/>
          </ns0:sldIdLst>
        </ns0:section>
        <ns0:section name="4 · Macro" id="{1D059B7A-44BE-4550-9DD9-2142FF57B5C1}">
          <ns0:sldIdLst>
            <ns0:sldId id="278"/>
            <ns0:sldId id="279"/>
            <ns0:sldId id="280"/>
            <ns0:sldId id="281"/>
          </ns0:sldIdLst>
        </ns0:section>
        <ns0:section name="5 · Results" id="{F8AA842F-91EA-4B53-95CE-91C277ED9E02}">
          <ns0:sldIdLst>
            <ns0:sldId id="282"/>
            <ns0:sldId id="283"/>
          </ns0:sldIdLst>
        </ns0:section>
        <ns0:section name="6 · Files &amp; Workflow" id="{170ABA0F-0875-48AA-8320-A2B77D40EE8C}">
          <ns0:sldIdLst>
            <ns0:sldId id="284"/>
            <ns0:sldId id="285"/>
            <ns0:sldId id="286"/>
            <ns0:sldId id="287"/>
            <ns0:sldId id="288"/>
            <ns0:sldId id="289"/>
            <ns0:sldId id="290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n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"/>
            <a:ext cx="1691640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60" b="1" i="0">
                <a:solidFill>
                  <a:srgbClr val="9DB4CC"/>
                </a:solidFill>
                <a:latin typeface="Calibri"/>
              </a:rPr>
              <a:t>MONEY MARKET FUNDS · REGULATION (EU) 2017/1131, ARTICLE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ESMA stress tests for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money market funds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27525"/>
            <a:ext cx="20116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80" b="0" i="0">
                <a:solidFill>
                  <a:srgbClr val="CFD8E2"/>
                </a:solidFill>
                <a:latin typeface="Calibri"/>
              </a:rPr>
              <a:t>A Python workflow that runs the twelve ESMA-calibrated stress scenarios and reports, fund by fund, how much value is lost and how well liquid assets cover redemptions.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86400"/>
            <a:ext cx="10451592" cy="713232"/>
          </a:xfrm>
          <a:prstGeom prst="rect">
            <a:avLst/>
          </a:prstGeom>
          <a:solidFill>
            <a:srgbClr val="1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559552"/>
            <a:ext cx="18159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80" b="1" i="0">
                <a:solidFill>
                  <a:srgbClr val="FFFFFF"/>
                </a:solidFill>
                <a:latin typeface="Calibri"/>
              </a:rPr>
              <a:t>Liquidity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897880"/>
            <a:ext cx="18159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9DB4CC"/>
                </a:solidFill>
                <a:latin typeface="Calibri"/>
              </a:rPr>
              <a:t>bid-ask, price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0166" y="5559552"/>
            <a:ext cx="18159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80" b="1" i="0">
                <a:solidFill>
                  <a:srgbClr val="FFFFFF"/>
                </a:solidFill>
                <a:latin typeface="Calibri"/>
              </a:rPr>
              <a:t>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0166" y="5897880"/>
            <a:ext cx="18159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9DB4CC"/>
                </a:solidFill>
                <a:latin typeface="Calibri"/>
              </a:rPr>
              <a:t>spreads and default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2648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0484" y="5559552"/>
            <a:ext cx="18159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80" b="1" i="0">
                <a:solidFill>
                  <a:srgbClr val="FFFFFF"/>
                </a:solidFill>
                <a:latin typeface="Calibri"/>
              </a:rPr>
              <a:t>Rates &amp; FX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484" y="5897880"/>
            <a:ext cx="18159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9DB4CC"/>
                </a:solidFill>
                <a:latin typeface="Calibri"/>
              </a:rPr>
              <a:t>curve and currency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42966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0803" y="5559552"/>
            <a:ext cx="18159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80" b="1" i="0">
                <a:solidFill>
                  <a:srgbClr val="FFFFFF"/>
                </a:solidFill>
                <a:latin typeface="Calibri"/>
              </a:rPr>
              <a:t>Redemption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0803" y="5897880"/>
            <a:ext cx="18159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9DB4CC"/>
                </a:solidFill>
                <a:latin typeface="Calibri"/>
              </a:rPr>
              <a:t>outflows vs liquidity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3285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1121" y="5559552"/>
            <a:ext cx="181599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80" b="1" i="0">
                <a:solidFill>
                  <a:srgbClr val="FFFFFF"/>
                </a:solidFill>
                <a:latin typeface="Calibri"/>
              </a:rPr>
              <a:t>Macro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1121" y="5897880"/>
            <a:ext cx="181599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9DB4CC"/>
                </a:solidFill>
                <a:latin typeface="Calibri"/>
              </a:rPr>
              <a:t>all shocks combined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3603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3550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0" i="0">
                <a:solidFill>
                  <a:srgbClr val="7E97B0"/>
                </a:solidFill>
                <a:latin typeface="Calibri"/>
              </a:rPr>
              <a:t>Illustrative data: issuer names are real market names; exposures, identifiers and prices are invented.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Why a money market fund is stress tested at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Source: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Regulation (EU) 2017/1131 Art 28 · ESMA50-481369926-30848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1 · 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Why money market funds need stress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139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36192"/>
            <a:ext cx="6437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The mismatch is the product.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investors treat MMF units as cash, while the fund holds paper with a residual life measured in weeks or months. In calm markets the two are indistinguishable; under stress they are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4660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6437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Article 28 makes testing mandatory.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Regulation (EU) 2017/1131 requires every MMF to run stress tests against common reference parameters, and ESMA sets those parameters and updates their calibration each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47929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6437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Calibrated, not invented.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the manager does not choose the severity. Shock sizes come from the ESMA tables, so results are comparable across funds and reportable to the national regulator.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53528" y="1572768"/>
            <a:ext cx="3977639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53528" y="1572768"/>
            <a:ext cx="3977639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4696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TWO SOURCE TEXTS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139696"/>
            <a:ext cx="35844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1" i="0">
                <a:solidFill>
                  <a:srgbClr val="C2453C"/>
                </a:solidFill>
                <a:latin typeface="Calibri"/>
              </a:rPr>
              <a:t>Regulation (EU) 2017/1131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40" b="0" i="0">
                <a:solidFill>
                  <a:srgbClr val="1A1A1A"/>
                </a:solidFill>
                <a:latin typeface="Calibri"/>
              </a:rPr>
              <a:t>the MMF Regulation. Article 28 requires stress testing; Articles 9, 10, 17, 18, 24 and 25 set what may be held and the portfolio limits the tests are measured against.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1">
                <a:solidFill>
                  <a:srgbClr val="355574"/>
                </a:solidFill>
                <a:latin typeface="Calibri"/>
              </a:rPr>
              <a:t>eur-lex.europa.eu  ·  CELEX 32017R1131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4696" y="3712464"/>
            <a:ext cx="358444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1" i="0">
                <a:solidFill>
                  <a:srgbClr val="C2453C"/>
                </a:solidFill>
                <a:latin typeface="Calibri"/>
              </a:rPr>
              <a:t>ESMA50-481369926-30848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40" b="0" i="0">
                <a:solidFill>
                  <a:srgbClr val="1A1A1A"/>
                </a:solidFill>
                <a:latin typeface="Calibri"/>
              </a:rPr>
              <a:t>Guidelines on stress test scenarios under the MMF Regulation. Paragraphs 50-65 give the method; Tables 1-14 give the calibration.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1">
                <a:solidFill>
                  <a:srgbClr val="355574"/>
                </a:solidFill>
                <a:latin typeface="Calibri"/>
              </a:rPr>
              <a:t>esma.europa.eu  ·  updated annually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ESMA calibrates every shock - liquidity discounts, price impact, credit and rate moves, redemptions and a combined macro scenario - so every fund is measured against the same yardstick.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1 · THE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portfolio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12 rows per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Twelve tests, each a loss or a coverage 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1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the twelve tests by risk factor and Guidelines paragraph</a:t>
            </a:r>
          </a:p>
        </p:txBody>
      </p:sp>
      <p:pic>
        <p:nvPicPr>
          <p:cNvPr id="9" name="Picture 8" descr="esma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9052560" cy="21195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094610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094610"/>
            <a:ext cx="5391759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27749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Loss  -  as a positive % of NAV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16402"/>
            <a:ext cx="502599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para 58: (reporting NAV - stressed NAV) / reporting NAV. Bigger is worse.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LST-01, CST-01, CST-02, FST-01, FST-02, IST-01, SST-01, MST-01; RST-01 as the share that can be sold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4094610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4094610"/>
            <a:ext cx="5391759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427749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2E7D5B"/>
                </a:solidFill>
                <a:latin typeface="Calibri"/>
              </a:rPr>
              <a:t>Coverage  -  liquid assets over an outflow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4716402"/>
            <a:ext cx="502599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paras 61-65: weekly liquid assets divided by the outflow being tested, as two figures, first bucket and total bucket. Bigger is better.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RST-02, RST-03, MST-02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Read coverage the other way round from loss: 500% on MST-02 means liquid assets cover the outflow 5 times over.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1 · THE FUNDS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fund_static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4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Four funds, one for each type of money market fund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0652760" cy="1803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777240"/>
                <a:gridCol w="1508760"/>
                <a:gridCol w="1783080"/>
                <a:gridCol w="914400"/>
                <a:gridCol w="1005840"/>
                <a:gridCol w="1005840"/>
                <a:gridCol w="1005840"/>
                <a:gridCol w="1051560"/>
              </a:tblGrid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MMFR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NAV type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NAV (USD)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holdings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WAM cap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WAL cap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daily min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weekly min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PDCNAV-USD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Art 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PUBLIC_DEBT_CNAV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5,000,000,000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60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LVNAV-USD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Art 24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LVNAV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12,000,000,000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60 days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30.0%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STVNAV-USD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Art 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VNAV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3,500,000,000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60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120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STDVNAV-USD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Art 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VNAV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2,200,000,000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180 days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365 days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61828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540556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Short-term against standard.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the three short-term funds cap WAM at 60 days and WAL at 120; the standard VNAV allows 180 and 365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680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290364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Public debt against prime.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the public debt fund holds only government paper, reverse repos and cash, all weekly liquid Bucket 1. The other three add commercial paper, CDs, bonds, FRNs, ABCP and more: 12 instrument types and 49 issuers across the four funds.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Exposures are illustrative. Issuer names are real, so ratings and countries match genuine rows in the ESMA tables.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fund_static · 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How one holding becomes nine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Position report: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nine measures on every holding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THE NINE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32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Nine position measures, three kinds of shock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1057839" cy="102412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82296" cy="102412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72768"/>
            <a:ext cx="10326319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2160" b="1" i="0">
                <a:solidFill>
                  <a:srgbClr val="0E2C4B"/>
                </a:solidFill>
                <a:latin typeface="Calibri"/>
              </a:rPr>
              <a:t>repricing loss   =   - market value   x   modified duration   x   shock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modified duration = duration / (1 + yield). Liquidity and default losses use no duration. A measure that does not apply is left blank, never zero.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761488"/>
          <a:ext cx="11064240" cy="2810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2606040"/>
                <a:gridCol w="3429000"/>
                <a:gridCol w="2788920"/>
              </a:tblGrid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duration used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shock from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applies to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LST01Shock_LDF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none - a flat discount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Tables 1-3: issuer, rating, maturity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 and MMF shares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LST01Shock_MIF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none - grows with sale size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 4 price impact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securities, MMF shares, repos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LST01Shock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the two above added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para 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securities, MMF shares, repos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LST01Shock_MV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LST01Shock x market value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para 50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securities, MMF shares, repos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liquidityLST01_MST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as above, smaller sale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 14 macro outflow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securities, MMF shares, repos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creditCST01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SPREAD duration, to maturity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 5 country, Table 6 rating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 and MMF shares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creditCST02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none - default is all or nothing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 7 loss given default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securities and MMF shares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interestRatesIST01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RATE duration, to next reset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Tables 8-9: currency, maturity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everything but cash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81086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spreadSST01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SPREAD duration, to maturity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Tables 8-9, same 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everything but cash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Rate duration runs to the next reset, spread duration to maturity. On fixed-rate paper they are the same number, which is why some columns look alike until an FRN appears.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LST01SHOCK_LDF AND LST01SHOCK_MIF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LDF and MIF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Liquidity cost = bid-ask discount + price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2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LVNAV-USD holdings: both para 50 terms, in basis points</a:t>
            </a:r>
          </a:p>
        </p:txBody>
      </p:sp>
      <p:pic>
        <p:nvPicPr>
          <p:cNvPr id="9" name="Picture 8" descr="esma_ls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7223760" cy="202104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014433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014433"/>
            <a:ext cx="5391759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97313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355574"/>
                </a:solidFill>
                <a:latin typeface="Calibri"/>
              </a:rPr>
              <a:t>LST01Shock_LDF  -  bid-ask discount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36225"/>
            <a:ext cx="502599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flat haircut from Tables 1-3, by issuer type, long-term rating and maturity. It does not depend on how much the fund sells.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FR0001, Commonwealth Bank of Australia: 0.45%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4014433"/>
            <a:ext cx="539175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4014433"/>
            <a:ext cx="5391759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4197313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LST01Shock_MIF  -  price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4636225"/>
            <a:ext cx="5025999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Table 4's price impact parameter times the amount sold, so it grows with the redemption assumption. The parameter is tiny because it applies per dollar sold.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8.0E-13  x  320,097,001  x  40%  =  0.010243%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On these holdings the bid-ask discount is 31 to 71 times the price impact. Price impact only matters for a large holding sold into a thin market.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table_04_price_impact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LST01SHOCK AND LST01SHOCK_MV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LST01Shock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LST01Shock_MV: the liquidity shock in dollars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7909559" cy="27100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3977639"/>
                <a:gridCol w="1783080"/>
              </a:tblGrid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LST01Shock_LDF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Table 3 AA 1Y lookup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0.4500%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LST01Shock_MIF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price impact x market value x 40% sold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0.010243%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LST01Shock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LDF + MIF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0.460243%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market value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as held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320,097,000.77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LST01Shock_MV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LST01Shock x market value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1,473,224.37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87156"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liquidityLST01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the same amount, signed as a loss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-1,473,224.37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750807" y="1572768"/>
            <a:ext cx="288036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50807" y="1572768"/>
            <a:ext cx="2880360" cy="7315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7" y="1755648"/>
            <a:ext cx="2514600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WHY BOTH COLUMNS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LST01Shock is a rate, comparable across holdings of any size. LST01Shock_MV is the dollar amount, and only dollars can be added up across a fund.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447458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355574"/>
                </a:solidFill>
                <a:latin typeface="Calibri"/>
              </a:rPr>
              <a:t>WORKED ON   LVNAV-USD   FR0001   Commonwealth Bank of Australia   -   floating rate note, 350 days to maturity, CQS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LST-01 sells a vertical slice: the same share of every holding, so the discount applies across the whole fund rather than to a chosen corner of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LIQUIDITYLST01_MST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liquidityLST01_MST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Macro sale: repo cost halves, others barely 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2413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4023360"/>
                <a:gridCol w="4023360"/>
              </a:tblGrid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reverse repo  PDCNAV-USD RR0001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floating rate note  LVNAV-USD FR0001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bid-ask discount (LDF)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none - repos have no bid-ask discount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0.4500%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price impact, 40% sold (LST-01)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0.003241%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0.010243%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price impact, 20% sold (macro)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0.001620%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0.005122%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LST01Shock_MV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5,585.75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1,473,224.37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liquidityLST01_MST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-2,792.88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-1,456,830.44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macro as a share of LST01Shock_MV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C2453C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98.9%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209897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132173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Repos: exactly half.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a reverse repo has no bid-ask discount, only price impact, and price impact grows with the amount sold. Institutional outflows are 20% in the macro scenario against 40% standalone, so liquidityLST01_MST is exactly half of LST01Shock_MV on all 15 repos.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923129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845405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Everything else: almost unchanged.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for CDs, CP, bonds and FRNs the bid-ask discount is by far the larger term and does not depend on sale size, so the macro figure stays at 98.4% to 99.9% of LST01Shock_MV across 122 holdings.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Only the price-impact term depends on how much is sold. Where it is the whole liquidity cost, as for repos, halving the sale halves the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table_13 · table_14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CREDITCST01 AND CREDITCST02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credit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Two credit losses: spread widening and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91759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1759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creditCST01  -  loss from spread widening or downgrade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5025999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Wider credit spreads lower the price, so duration matters. The shock is Table 5 for government paper (by country) or Table 6 for corporate paper (by rating), applied on spread duration.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- 320,097,001 x 0.9589/(1+0.0419) x 1.29% = -3,800,155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72768"/>
            <a:ext cx="5391759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572768"/>
            <a:ext cx="5391759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755648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0E2C4B"/>
                </a:solidFill>
                <a:latin typeface="Calibri"/>
              </a:rPr>
              <a:t>creditCST02  -  loss from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194560"/>
            <a:ext cx="5025999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issuer defaults, so duration plays no part. Loss = market value x loss given default from Table 7: 45% on senior paper, 75% on subordinated. It is the largest single-position number in the report.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0E2C4B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- 320,097,001 x 45% = -144,043,650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94176"/>
            <a:ext cx="11057839" cy="786384"/>
          </a:xfrm>
          <a:prstGeom prst="rect">
            <a:avLst/>
          </a:prstGeom>
          <a:solidFill>
            <a:srgbClr val="F7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694176"/>
            <a:ext cx="82296" cy="7863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694176"/>
            <a:ext cx="1050919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C2453C"/>
                </a:solidFill>
                <a:latin typeface="Calibri"/>
              </a:rPr>
              <a:t>Collateralised lines and cash are out.  </a:t>
            </a:r>
            <a:r>
              <a:rPr sz="1320" b="0" i="0">
                <a:solidFill>
                  <a:srgbClr val="1A1A1A"/>
                </a:solidFill>
                <a:latin typeface="Calibri"/>
              </a:rPr>
              <a:t>Reverse repos, repos, deposits and cash carry neither credit loss, so both columns are blank. Repos still carry a rate shock and price impact.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CST-02 then takes the two largest issuers in each fund - government paper included, repos and deposits excluded.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table_05 · table_06 · table_07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INTERESTRATESIST01 AND SPREADSST01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rate and spread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Same rate shock, two durations: IST-01 vs SST-01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3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LVNAV-USD FR0001: the same 1.40% shock measured on two durations</a:t>
            </a:r>
          </a:p>
        </p:txBody>
      </p:sp>
      <p:pic>
        <p:nvPicPr>
          <p:cNvPr id="9" name="Picture 8" descr="esma_duration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47088"/>
            <a:ext cx="8595360" cy="2223333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216725"/>
          <a:ext cx="11064240" cy="1272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1371600"/>
                <a:gridCol w="2560320"/>
              </a:tblGrid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modified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2E7D5B"/>
                          </a:solidFill>
                          <a:latin typeface="Calibri"/>
                        </a:rPr>
                        <a:t>interestRatesIST01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0.246575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0.236649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1.40%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-1,060,508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B8862E"/>
                          </a:solidFill>
                          <a:latin typeface="Calibri"/>
                        </a:rPr>
                        <a:t>spreadSST01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0.958904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0.920301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1.40%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-4,124,199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CB0002  fixed rate, for contrast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0.263014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0.251486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1.28%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-1,163,565  both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spreadSST01 uses spread duration, so on an FRN it differs from interestRatesIST01: rate duration stops at the next reset, spread duration runs to maturity. The engine measures index-linked sensitivity on spread duration.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table_08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2 · ONE HOLDING, ALL 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LVNAV-USD FR0001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whole position report on a single holding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80" b="1" i="0">
                <a:solidFill>
                  <a:srgbClr val="0E2C4B"/>
                </a:solidFill>
                <a:latin typeface="Calibri"/>
              </a:rPr>
              <a:t>FR0001   </a:t>
            </a:r>
            <a:r>
              <a:rPr sz="1560" b="0" i="0">
                <a:solidFill>
                  <a:srgbClr val="1A1A1A"/>
                </a:solidFill>
                <a:latin typeface="Calibri"/>
              </a:rPr>
              <a:t>Commonwealth Bank of Australia   </a:t>
            </a:r>
            <a:r>
              <a:rPr sz="1260" b="0" i="0">
                <a:solidFill>
                  <a:srgbClr val="6A6A6A"/>
                </a:solidFill>
                <a:latin typeface="Calibri"/>
              </a:rPr>
              <a:t>LVNAV-USD  ·  floating rate note  ·  350 days  ·  CQS 1  ·  Bucket 2  ·  MV 320,097,000.77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84832"/>
          <a:ext cx="7680960" cy="3129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3200400"/>
                <a:gridCol w="1965960"/>
              </a:tblGrid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LST01Shock_LDF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bid-ask discount, Table 3 AA 1Y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0.4500%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LST01Shock_MIF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price impact, Table 4 Corporate bonds (financial)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0.010243%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LST01Shock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the two added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0.460243%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LST01Shock_MV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shock in dollars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1,473,224.37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liquidityLST01_MST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same, at the macro outflow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-1,456,830.44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creditCST01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spread widening x spread duration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-3,800,154.76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creditCST02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default x loss given default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C2453C"/>
                          </a:solidFill>
                          <a:latin typeface="Calibri"/>
                        </a:rPr>
                        <a:t>-144,043,650.35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interestRatesIST01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rate shock x RATE duration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-1,060,508.30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2907">
                <a:tc>
                  <a:txBody>
                    <a:bodyPr wrap="square"/>
                    <a:lstStyle/>
                    <a:p>
                      <a:pPr algn="l"/>
                      <a:r>
                        <a:rPr sz="1097" b="1">
                          <a:solidFill>
                            <a:srgbClr val="0E2C4B"/>
                          </a:solidFill>
                          <a:latin typeface="Calibri"/>
                        </a:rPr>
                        <a:t>spreadSST01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97" b="0">
                          <a:solidFill>
                            <a:srgbClr val="1A1A1A"/>
                          </a:solidFill>
                          <a:latin typeface="Calibri"/>
                        </a:rPr>
                        <a:t>rate shock x SPREAD duration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97" b="1">
                          <a:solidFill>
                            <a:srgbClr val="1A1A1A"/>
                          </a:solidFill>
                          <a:latin typeface="Calibri"/>
                        </a:rPr>
                        <a:t>-4,124,198.96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476488" y="2084832"/>
            <a:ext cx="3154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76488" y="2084832"/>
            <a:ext cx="64008" cy="93268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2167128"/>
            <a:ext cx="2834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C2453C"/>
                </a:solidFill>
                <a:latin typeface="Calibri"/>
              </a:rPr>
              <a:t>Largest single number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0E2C4B"/>
                </a:solidFill>
                <a:latin typeface="Calibri"/>
              </a:rPr>
              <a:t>-144,043,650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0" i="0">
                <a:solidFill>
                  <a:srgbClr val="6A6A6A"/>
                </a:solidFill>
                <a:latin typeface="Calibri"/>
              </a:rPr>
              <a:t>default takes 45% of the holding - far more than any repricing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3127247"/>
            <a:ext cx="3154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6488" y="3127247"/>
            <a:ext cx="64008" cy="932688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3209543"/>
            <a:ext cx="2834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B8862E"/>
                </a:solidFill>
                <a:latin typeface="Calibri"/>
              </a:rPr>
              <a:t>Spread vs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0E2C4B"/>
                </a:solidFill>
                <a:latin typeface="Calibri"/>
              </a:rPr>
              <a:t>3.9x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0" i="0">
                <a:solidFill>
                  <a:srgbClr val="6A6A6A"/>
                </a:solidFill>
                <a:latin typeface="Calibri"/>
              </a:rPr>
              <a:t>the reset shelters the rate leg; the spread leg runs to maturity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76488" y="4169662"/>
            <a:ext cx="315468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6488" y="4169662"/>
            <a:ext cx="64008" cy="93268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4251958"/>
            <a:ext cx="28346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Liquidity cost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0E2C4B"/>
                </a:solidFill>
                <a:latin typeface="Calibri"/>
              </a:rPr>
              <a:t>1,473,224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0" i="0">
                <a:solidFill>
                  <a:srgbClr val="6A6A6A"/>
                </a:solidFill>
                <a:latin typeface="Calibri"/>
              </a:rPr>
              <a:t>0.4602% of the holding, mostly bid-ask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Nine columns, three shocks, two durations. Everything at portfolio level is this one row repeated across 143 holdings.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Market shocks and redemptions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Portfolio report: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market and redemption 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LST-01, CST-01, IST-01, SST-01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portfolio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impact_on_nav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Four tests: a column summed and divided by NAV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39" cy="1697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2514600"/>
                <a:gridCol w="1783080"/>
                <a:gridCol w="1783080"/>
                <a:gridCol w="1783080"/>
                <a:gridCol w="1874519"/>
              </a:tblGrid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sums this position column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PDCNAV-USD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LVNAV-USD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STDVNAV-USD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LST-01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liquidityLST01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0.34%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0.36%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CST-01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creditCST01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0.80%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IST-01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interestRatesIST01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0.56%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SST-01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spreadSST01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0.86%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41619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4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IST-01 against SST-01 - the gap comes from the FRNs</a:t>
            </a:r>
          </a:p>
        </p:txBody>
      </p:sp>
      <p:pic>
        <p:nvPicPr>
          <p:cNvPr id="10" name="Picture 9" descr="esma_sst_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53942"/>
            <a:ext cx="7863840" cy="190578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SST-01 uses spread duration where IST-01 uses rate duration, both divided by (1 + yield). Spread duration is never shorter, so SST-01 is never below IST-01; the two are equal only in PDCNAV-USD, the one fund without FRNs.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portfolio · positions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THE SAME FOUR TESTS, 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duration and shock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Why the four losses grow from left to 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222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103120"/>
                <a:gridCol w="2103120"/>
                <a:gridCol w="2103120"/>
                <a:gridCol w="2103120"/>
              </a:tblGrid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what the loss is made of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PDCNAV-USD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LVNAV-USD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STDVNAV-USD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residual maturity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37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48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71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219 days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spread duration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0.10 years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0.13 years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0.19 years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0.60 years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credit spread 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43 bp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142 bp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133 bp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137 bp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bid-ask discount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8 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C2453C"/>
                          </a:solidFill>
                          <a:latin typeface="Calibri"/>
                        </a:rPr>
                        <a:t>40 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40 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44 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government paper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18211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0E2C4B"/>
                          </a:solidFill>
                          <a:latin typeface="Calibri"/>
                        </a:rPr>
                        <a:t>floating rate notes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946550"/>
            <a:ext cx="357012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946550"/>
            <a:ext cx="3570122" cy="73152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29430"/>
            <a:ext cx="320436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C2453C"/>
                </a:solidFill>
                <a:latin typeface="Calibri"/>
              </a:rPr>
              <a:t>STEP 1 - CREDIT QUALITY, NOT MATURITY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Government paper falls from 82% to 4%, so the average credit spread shock goes from 43bp (Table 5, by country) to 142bp (Table 6, by rating), and the bid-ask discount from 8bp to 40bp. LST-01 and CST-01 multiply while maturity barely moves: 37 to 48 days.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0786" y="3946550"/>
            <a:ext cx="357012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0786" y="3946550"/>
            <a:ext cx="3570122" cy="7315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3666" y="4129430"/>
            <a:ext cx="320436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STEP 2 - MATURITY, NOT CREDIT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A standard MMF may run a WAM of 180 days against 60 for a short-term one, and a WAL of 365 against 120. The credit shock stays near 137bp, but spread duration runs from 0.19 to 0.60 years, and CST-01, IST-01 and SST-01 rise with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4644" y="3946550"/>
            <a:ext cx="357012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4644" y="3946550"/>
            <a:ext cx="3570122" cy="73152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7524" y="4129430"/>
            <a:ext cx="320436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B8862E"/>
                </a:solidFill>
                <a:latin typeface="Calibri"/>
              </a:rPr>
              <a:t>WHY SST-01 OUTRUNS IST-01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Floating notes rise from 0% of the fund to 12%. A floating note takes the rate shock only to its next reset, but carries the spread shock to legal maturity, so the gap between the two widens to 0.30% of NAV in STDVNAV-USD.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Each of the four is value x sensitivity x shock, and the funds are ordered by how much of both the regulation allows. IST-01 is the one exception: it dips at LVNAV-USD, because rate risk ignores credit quality and LVNAV-USD's book is fractionally shorter than PDCNAV-USD's.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CST-02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positions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creditCST02 by issuer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CST-02: default of the two largest issuers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11057839" cy="749808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82296" cy="7498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72768"/>
            <a:ext cx="104177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E2C4B"/>
                </a:solidFill>
                <a:latin typeface="Calibri"/>
              </a:rPr>
              <a:t>CST-02  =  (loss on largest issuer + loss on second-largest issuer)  /  NAV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loss = exposure x loss given default (Table 7: 45% senior, 75% subordinated): the two largest issuers' default losses divided by NAV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450592"/>
          <a:ext cx="11018520" cy="1803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291840"/>
                <a:gridCol w="3154680"/>
                <a:gridCol w="1783080"/>
                <a:gridCol w="1234440"/>
              </a:tblGrid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fund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largest issuer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second issuer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CST-02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PDCNAV-USD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US Treasury  72.79% x 45%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IBRD (World Bank)  3.16% x 45%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32.76% + 1.42%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C2453C"/>
                          </a:solidFill>
                          <a:latin typeface="Calibri"/>
                        </a:rPr>
                        <a:t>34.18%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LVNAV-USD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TotalEnergies  2.63% x 75%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US Treasury  4.00% x 45%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1.97% + 1.80%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C2453C"/>
                          </a:solidFill>
                          <a:latin typeface="Calibri"/>
                        </a:rPr>
                        <a:t>3.77%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STVNAV-USD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Atlantic Funding  5.77% x 45%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Harbourview  5.38% x 45%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2.60% + 2.42%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C2453C"/>
                          </a:solidFill>
                          <a:latin typeface="Calibri"/>
                        </a:rPr>
                        <a:t>5.02%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60639">
                <a:tc>
                  <a:txBody>
                    <a:bodyPr wrap="square"/>
                    <a:lstStyle/>
                    <a:p>
                      <a:pPr algn="l"/>
                      <a:r>
                        <a:rPr sz="1120" b="1">
                          <a:solidFill>
                            <a:srgbClr val="1A1A1A"/>
                          </a:solidFill>
                          <a:latin typeface="Calibri"/>
                        </a:rPr>
                        <a:t>STDVNAV-USD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US Treasury  4.00% x 45%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ING Bank  3.96% x 45%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1.80% + 1.78%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20" b="1">
                          <a:solidFill>
                            <a:srgbClr val="C2453C"/>
                          </a:solidFill>
                          <a:latin typeface="Calibri"/>
                        </a:rPr>
                        <a:t>3.58%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44778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00092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Government paper counts; repos do not.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bonds and T-bills are in scope, reverse repos, repos and deposits are not. So PDCNAV-USD's second issuer is IBRD (World Bank) at 3.16%, not its larger BofA (3.45%) and BNP Paribas (3.23%) repo lines.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04474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967020"/>
            <a:ext cx="107350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Ratings play no part.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the test assumes the default happens; only seniority changes the size of the loss.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CST-02 measures concentration: what a fund would lose if its two biggest issuers failed.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positions · portfolio · table_07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CST-02 ON THE PUBLIC DEBT FUND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ESMA_MMF_Stress_Input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PDCNAV-USD issuers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Why PDCNAV-USD's CST-02 is 34%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5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the single largest issuer as a share of NAV, by fund</a:t>
            </a:r>
          </a:p>
        </p:txBody>
      </p:sp>
      <p:pic>
        <p:nvPicPr>
          <p:cNvPr id="9" name="Picture 8" descr="esma_top_issu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8412480" cy="16286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3585421"/>
            <a:ext cx="36118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585421"/>
            <a:ext cx="3611880" cy="73152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68301"/>
            <a:ext cx="324612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C2453C"/>
                </a:solidFill>
                <a:latin typeface="Calibri"/>
              </a:rPr>
              <a:t>PUBLIC DEBT MAY BE CONCENTRATED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Article 17 normally limits each issuer to a small share of a fund. Article 17(7) allows up to 100% in one government or supranational, if the fund holds at least six issues and none above 30%. PDCNAV-USD holds 22 US Treasury issues, the largest 4.49% of NAV.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585421"/>
            <a:ext cx="36118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585421"/>
            <a:ext cx="3611880" cy="7315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768301"/>
            <a:ext cx="324612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ONE ISSUER, ONE EXPOSURE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The 22 issues count as one exposure: a government does not default on one bill and keep paying the rest. Counted issue by issue, CST-02 would be about 3.7%.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3585421"/>
            <a:ext cx="36118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3585421"/>
            <a:ext cx="3611880" cy="73152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768301"/>
            <a:ext cx="324612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B8862E"/>
                </a:solidFill>
                <a:latin typeface="Calibri"/>
              </a:rPr>
              <a:t>SENIORITY MATTERS, RATING DOES NOT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In LVNAV-USD, TotalEnergies (2.63% of NAV) outranks JPMorgan (3.48%) because its bond is subordinated: a 75% loss given default makes a 1.97% loss against 1.57%.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The regulation permits this concentration in public debt. CST-02 shows its cost if the one issuer holding 73% of the fund were to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ESMA_MMF_Stress_Input · 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FST-01 AND FST-02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portfolio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FST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FX tests are zero: every holding is in USD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91759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391759" cy="822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55648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5B7B99"/>
                </a:solidFill>
                <a:latin typeface="Calibri"/>
              </a:rPr>
              <a:t>What the tests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94560"/>
            <a:ext cx="502599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para 56 uses two scenarios: the euro strengthening against the dollar (FST-01, Table 10) and the euro weakening (FST-02, Table 11). A holding in another currency is revalued by how that currency moves against the fund's own.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5B7B99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a euro holding in a USD fund: +9% under FST-01, -12% under FST-02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572768"/>
            <a:ext cx="5391759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572768"/>
            <a:ext cx="5391759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1755648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2E7D5B"/>
                </a:solidFill>
                <a:latin typeface="Calibri"/>
              </a:rPr>
              <a:t>Why they are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194560"/>
            <a:ext cx="502599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All four funds are USD funds, and each of the 143 holdings is denominated in USD. With no currency mismatch there is nothing for the FX shock to act 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EXAMPLE   </a:t>
            </a:r>
            <a:r>
              <a:rPr sz="1116" b="0" i="0">
                <a:solidFill>
                  <a:srgbClr val="6A6A6A"/>
                </a:solidFill>
                <a:latin typeface="Calibri"/>
              </a:rPr>
              <a:t>security_currency_code is USD on every input row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85616"/>
            <a:ext cx="11057839" cy="960120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85616"/>
            <a:ext cx="82296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785616"/>
            <a:ext cx="1046347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2E7D5B"/>
                </a:solidFill>
                <a:latin typeface="Calibri"/>
              </a:rPr>
              <a:t>Zero and blank mean different things in this report.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FST-01 at 0.00% means the test ran and found no exposure. A reverse repo's creditCST01 is blank because that test does not apply to repos at 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A zero FX result is a finding about the funds, not a gap in the calculation: these are single-currency books.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portfolio · table_10 · table_11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RST-01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rst01_ladder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Scenario Audit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RST-01: the largest sale that keeps every 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E2C4B"/>
                </a:solidFill>
                <a:latin typeface="Calibri"/>
              </a:rPr>
              <a:t>STDVNAV-USD   </a:t>
            </a:r>
            <a:r>
              <a:rPr sz="1260" b="0" i="0">
                <a:solidFill>
                  <a:srgbClr val="1A1A1A"/>
                </a:solidFill>
                <a:latin typeface="Calibri"/>
              </a:rPr>
              <a:t>each row sells that share of the fund and re-tests what is left. Gold marks a limit reached exactly, red a limit broken.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93392"/>
          <a:ext cx="11018520" cy="2757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"/>
                <a:gridCol w="868680"/>
                <a:gridCol w="868680"/>
                <a:gridCol w="868680"/>
                <a:gridCol w="868680"/>
                <a:gridCol w="1051560"/>
                <a:gridCol w="1051560"/>
                <a:gridCol w="1234440"/>
                <a:gridCol w="1143000"/>
                <a:gridCol w="960120"/>
                <a:gridCol w="1371600"/>
              </a:tblGrid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sold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WAM ≤180d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WAL ≤365d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daily ≥7.5%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weekly ≥15%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one MMF ≤5%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one issuer ≤10%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issuers &gt;5% ≤40%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US Treasury ≤5%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Art 18 ≤10%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85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148.8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219.2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20.50%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3.96%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compliant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149.8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228.1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9.11%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20.72%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2.78%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4.11%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compliant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151.1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239.2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9.25%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20.99%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3.12%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4.50%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4.25%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compliant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152.8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253.4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9.42%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21.35%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3.56%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5.14%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5.14%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4.42%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compliant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155.0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272.4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9.66%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21.82%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4.15%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6.00%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11.33%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4.66%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compliant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50.33%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158.2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300.1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10.00%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22.50%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B8862E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7.25%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35.27%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B8862E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2E7D5B"/>
                          </a:solidFill>
                          <a:latin typeface="Calibri"/>
                        </a:rPr>
                        <a:t>RST-01</a:t>
                      </a:r>
                    </a:p>
                  </a:txBody>
                  <a:tcPr marL="54864" marR="54864" marT="9144" marB="9144" anchor="ctr">
                    <a:solidFill>
                      <a:srgbClr val="E7F0EC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44728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50.46%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158.5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300.7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9.97%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22.42%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C2453C"/>
                          </a:solidFill>
                          <a:latin typeface="Calibri"/>
                        </a:rPr>
                        <a:t>5.01%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7.27%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C2453C"/>
                          </a:solidFill>
                          <a:latin typeface="Calibri"/>
                        </a:rPr>
                        <a:t>40.37%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4.95%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C2453C"/>
                          </a:solidFill>
                          <a:latin typeface="Calibri"/>
                        </a:rPr>
                        <a:t>limit broken</a:t>
                      </a:r>
                    </a:p>
                  </a:txBody>
                  <a:tcPr marL="54864" marR="54864" marT="9144" marB="9144" anchor="ctr">
                    <a:solidFill>
                      <a:srgbClr val="F7E9E7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87923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Only 72% of the fund can be sold within a week. The engine finds the largest sale that keeps every limit and re-tests the fund at 401 points on the way there. At 50.33%, the largest money market fund holding is at 5% of the fund; US Treasury is at 5%, the most allowed while the fund holds 2 of its issues rather than 6. 4 issuers also sit at exactly 5%, so one step further lifts one of them into the 40%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STDVNAV-USD can sell 50.33% of its assets in a week. Selling more, one money market fund would exceed 5% of the fund, and issuers above 5% would pass 40% in total.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rst01_ladder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RST-01, 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article_limits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esma_reference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Where each limit on that table comes from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2375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234440"/>
                <a:gridCol w="5852160"/>
                <a:gridCol w="1828800"/>
              </a:tblGrid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limit on the table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article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what the Regulation says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at RST-01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one MMF ≤5%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16(2)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"no more than 5 % of its assets are invested in units or shares of a single MMF"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one issuer ≤10%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17(1)(a), 17(2)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5% per body, and for a variable NAV fund "a VNAV MMF may invest up to 10 % of its assets"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7.25%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issuers &gt;5% ≤40%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17(2)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… provided the total held in those bodies "does not exceed 40 % of the value of its assets"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35.27%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US Treasury ≤5%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17(7)(a)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up to 100% is allowed, but only where "the MMF holds money market instruments from at least six different issues by the issuer"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5.00% in 2 issues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Art 18 ≤10%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18(1)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an MMF "shall not hold more than 10 % of the money market instruments, securitisations and ABCPs issued by a single body"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2.13%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39425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0E2C4B"/>
                          </a:solidFill>
                          <a:latin typeface="Calibri"/>
                        </a:rPr>
                        <a:t>WAM, WAL, daily, weekly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25(1)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0">
                          <a:solidFill>
                            <a:srgbClr val="1A1A1A"/>
                          </a:solidFill>
                          <a:latin typeface="Calibri"/>
                        </a:rPr>
                        <a:t>for a standard MMF, "WAM of no more than 6 months", "WAL of no more than 12 months", and the 7.5% and 15% liquidity minimums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1A1A1A"/>
                          </a:solidFill>
                          <a:latin typeface="Calibri"/>
                        </a:rPr>
                        <a:t>158d and 300d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095048"/>
            <a:ext cx="3570122" cy="1427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95048"/>
            <a:ext cx="3570122" cy="73152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77928"/>
            <a:ext cx="3204362" cy="115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C2453C"/>
                </a:solidFill>
                <a:latin typeface="Calibri"/>
              </a:rPr>
              <a:t>WHY 10% AND NOT 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28" b="0" i="0">
                <a:solidFill>
                  <a:srgbClr val="1A1A1A"/>
                </a:solidFill>
                <a:latin typeface="Calibri"/>
              </a:rPr>
              <a:t>STDVNAV-USD is a variable NAV fund, so Article 17(2) lifts the 5% body limit to 10%, provided everything above 5% totals no more than 40%. On LVNAV-USD that column reads 5%, with no aggregate column.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0786" y="4095048"/>
            <a:ext cx="3570122" cy="1427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0786" y="4095048"/>
            <a:ext cx="3570122" cy="7315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3666" y="4277928"/>
            <a:ext cx="3204362" cy="115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WHY US TREASURY IS HELD TO 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28" b="0" i="0">
                <a:solidFill>
                  <a:srgbClr val="1A1A1A"/>
                </a:solidFill>
                <a:latin typeface="Calibri"/>
              </a:rPr>
              <a:t>Article 17(7) allows up to 100% in one government issuer, but only with 6 issues or more. STDVNAV-USD holds 2, so its US Treasury paper falls back to 5%. PDCNAV-USD holds 22 and runs 73%.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4644" y="4095048"/>
            <a:ext cx="3570122" cy="1427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4644" y="4095048"/>
            <a:ext cx="3570122" cy="73152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7524" y="4277928"/>
            <a:ext cx="3204362" cy="115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B8862E"/>
                </a:solidFill>
                <a:latin typeface="Calibri"/>
              </a:rPr>
              <a:t>ARTICLE 18 ASKS THE OPPOSITE QUESTION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28" b="0" i="0">
                <a:solidFill>
                  <a:srgbClr val="1A1A1A"/>
                </a:solidFill>
                <a:latin typeface="Calibri"/>
              </a:rPr>
              <a:t>Article 17 measures the share of the FUND one body takes; Article 18 the share of THAT ISSUER's paper the fund holds. Selling only shrinks it: 2.50% at rest against 2.13% here. Article 18(2) exempts public debt.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Not one of these limits lives in the engine. Each is read from the article that sets it, and the build refuses a number whose sentence it cannot find in the Regulation.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article_limits · rst01_ladder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3 · RST-02 AND RST-03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portfolio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first / total bucket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Coverage = weekly liquid assets ÷ outflow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6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weekly liquid assets by para 61 bucket, as a share of assets</a:t>
            </a:r>
          </a:p>
        </p:txBody>
      </p:sp>
      <p:pic>
        <p:nvPicPr>
          <p:cNvPr id="9" name="Picture 8" descr="esma_wla_bu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9052560" cy="221065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4149186"/>
            <a:ext cx="5391759" cy="9144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149186"/>
            <a:ext cx="82296" cy="9144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49186"/>
            <a:ext cx="5120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0E2C4B"/>
                </a:solidFill>
                <a:latin typeface="Calibri"/>
              </a:rPr>
              <a:t>first bucket   =   Bucket 1 / outflow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C2453C"/>
                </a:solidFill>
                <a:latin typeface="Calibri"/>
              </a:rPr>
              <a:t>total bucket   =   (Bucket 1 + Bucket 2 x 85%) / outflow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33007" y="4094322"/>
          <a:ext cx="5391759" cy="1050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2922879"/>
                <a:gridCol w="1463040"/>
              </a:tblGrid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outflow tested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RST-02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40% professional, 30% retail, blended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Table 13, para 61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RST-03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the two largest investors' combined holding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fund static, para 62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Bucket 2 counts at 85% because para 61 discounts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portfolio · wla_bucket_rules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The macro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Portfolio report: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MST-01 and MST-02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4 · MST-01 AND MST-02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mst_summary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MST Audit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Macro: one market shock, then redemptions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7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STDVNAV-USD: MST-01 built from its legs, 1.44% of NAV (the adverse FX leg is zero, every holding is in USD)</a:t>
            </a:r>
          </a:p>
        </p:txBody>
      </p:sp>
      <p:pic>
        <p:nvPicPr>
          <p:cNvPr id="9" name="Picture 8" descr="esma_mst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8778240" cy="20551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" y="3993663"/>
            <a:ext cx="539175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93663"/>
            <a:ext cx="5391759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76543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MST-01  -  a combined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615455"/>
            <a:ext cx="502599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Rates, credit and the adverse side of FX hit the whole fund. The cost of selling 20% of it at stressed prices is added on top. The result is a loss as a % of NAV.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3993663"/>
            <a:ext cx="539175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3993663"/>
            <a:ext cx="5391759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4176543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2E7D5B"/>
                </a:solidFill>
                <a:latin typeface="Calibri"/>
              </a:rPr>
              <a:t>MST-02  -  coverage after the shock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4615455"/>
            <a:ext cx="5025999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Weekly liquid assets are revalued after the shock and divided by the outflow, itself measured on the post-shock NAV. A holding stays in its liquidity bucket even when its price falls.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MST-02 does not reuse MST-01's percentage. It rebuilds from the stressed holdings and leaves the liquidity cost 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mst_summary · mst_positions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4 · MST-01 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mst_summary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STDVNAV-USD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MST-01: market shock plus liquidity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1697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7406640"/>
                <a:gridCol w="1828800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calculation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232" b="1">
                          <a:solidFill>
                            <a:srgbClr val="1A1A1A"/>
                          </a:solidFill>
                          <a:latin typeface="Calibri"/>
                        </a:rPr>
                        <a:t>market 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32" b="0">
                          <a:solidFill>
                            <a:srgbClr val="1A1A1A"/>
                          </a:solidFill>
                          <a:latin typeface="Calibri"/>
                        </a:rPr>
                        <a:t>rates -12,294,211  +  credit -17,698,718  +  adverse FX 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32" b="1">
                          <a:solidFill>
                            <a:srgbClr val="1A1A1A"/>
                          </a:solidFill>
                          <a:latin typeface="Calibri"/>
                        </a:rPr>
                        <a:t>-29,992,929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232" b="1">
                          <a:solidFill>
                            <a:srgbClr val="1A1A1A"/>
                          </a:solidFill>
                          <a:latin typeface="Calibri"/>
                        </a:rPr>
                        <a:t>liquidity cost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32" b="0">
                          <a:solidFill>
                            <a:srgbClr val="1A1A1A"/>
                          </a:solidFill>
                          <a:latin typeface="Calibri"/>
                        </a:rPr>
                        <a:t>0.20  x  Σ liquidityLST01_MST (-8,814,555)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32" b="1">
                          <a:solidFill>
                            <a:srgbClr val="1A1A1A"/>
                          </a:solidFill>
                          <a:latin typeface="Calibri"/>
                        </a:rPr>
                        <a:t>-1,762,911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232" b="1">
                          <a:solidFill>
                            <a:srgbClr val="C2453C"/>
                          </a:solidFill>
                          <a:latin typeface="Calibri"/>
                        </a:rPr>
                        <a:t>MST-01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32" b="0">
                          <a:solidFill>
                            <a:srgbClr val="1A1A1A"/>
                          </a:solidFill>
                          <a:latin typeface="Calibri"/>
                        </a:rPr>
                        <a:t>-( -29,992,929  +  -1,762,911 )  ÷  reporting NAV 2,200,000,000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32" b="1">
                          <a:solidFill>
                            <a:srgbClr val="C2453C"/>
                          </a:solidFill>
                          <a:latin typeface="Calibri"/>
                        </a:rPr>
                        <a:t>1.44%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471062"/>
            <a:ext cx="5486400" cy="207020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3471062"/>
            <a:ext cx="5486400" cy="73152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653942"/>
            <a:ext cx="5120640" cy="1795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WHERE 0.20 APPEARS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1.  Inside liquidityLST01_MST, per holding: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- MV x (LDF + price impact x MV x 0.20). Here 0.20 only sets the size of the sale, which drives price impact; the bid-ask discount applies to the whole holding. On LVNAV-USD FR0001: -1,456,830.44.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E2C4B"/>
                </a:solidFill>
                <a:latin typeface="Calibri"/>
              </a:rPr>
              <a:t>2.  In MST-01 itself: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0.20 x Σ liquidityLST01_MST, so the liquidity cost is counted on the 20% of the fund actually sold.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8" y="3471062"/>
            <a:ext cx="5349240" cy="2070202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3471062"/>
            <a:ext cx="5349240" cy="73152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3653942"/>
            <a:ext cx="4983480" cy="17958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C2453C"/>
                </a:solidFill>
                <a:latin typeface="Calibri"/>
              </a:rPr>
              <a:t>WHAT TO NOTICE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Only liquidity assumes the redemption.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Rates and credit hit 100% of the fund: the market shock lands before anyone redeems.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Adverse FX is the fourth leg (para 65).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It is zero here because every fund and every holding is in USD.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The denominator is the reporting NAV.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A loss reads as a positive percentage, a gain as a negative one (para 58).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Rates and credit are applied to the whole fund; liquidity only to the 20% that is sold.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mst_summary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4 · MST-02 CALCULATION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mst_summary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STDVNAV-USD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MST-02: liquid assets after the shock vs outflow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2487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7178040"/>
                <a:gridCol w="1737360"/>
              </a:tblGrid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calculation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stressed NAV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NAV 2,200,000,000  +  market shock -29,992,929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2,170,007,071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outflow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0.20  x  stressed NAV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434,001,414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Bucket 1 after shock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286,000,000 revalued by each holding's rate, credit and FX loss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285,978,005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1A1A1A"/>
                          </a:solidFill>
                          <a:latin typeface="Calibri"/>
                        </a:rPr>
                        <a:t>Bucket 2 after shock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1,474,000,000 revalued the same way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1,457,009,879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2E7D5B"/>
                          </a:solidFill>
                          <a:latin typeface="Calibri"/>
                        </a:rPr>
                        <a:t>MST-02 first bucket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Bucket 1 ÷ outflow  =  285,978,005 ÷ 434,001,414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2E7D5B"/>
                          </a:solidFill>
                          <a:latin typeface="Calibri"/>
                        </a:rPr>
                        <a:t>65.89%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5335">
                <a:tc>
                  <a:txBody>
                    <a:bodyPr wrap="square"/>
                    <a:lstStyle/>
                    <a:p>
                      <a:pPr algn="l"/>
                      <a:r>
                        <a:rPr sz="1176" b="1">
                          <a:solidFill>
                            <a:srgbClr val="2E7D5B"/>
                          </a:solidFill>
                          <a:latin typeface="Calibri"/>
                        </a:rPr>
                        <a:t>MST-02 total bucket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76" b="0">
                          <a:solidFill>
                            <a:srgbClr val="1A1A1A"/>
                          </a:solidFill>
                          <a:latin typeface="Calibri"/>
                        </a:rPr>
                        <a:t>(Bucket 1 + 85% x Bucket 2) ÷ outflow  =  1,524,436,402 ÷ 434,001,414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76" b="1">
                          <a:solidFill>
                            <a:srgbClr val="2E7D5B"/>
                          </a:solidFill>
                          <a:latin typeface="Calibri"/>
                        </a:rPr>
                        <a:t>351.25%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242998"/>
            <a:ext cx="3611880" cy="12982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242998"/>
            <a:ext cx="3611880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25878"/>
            <a:ext cx="3246120" cy="1023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2E7D5B"/>
                </a:solidFill>
                <a:latin typeface="Calibri"/>
              </a:rPr>
              <a:t>REVALUED, NOT SCALED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Each holding moves by its own rate, credit and FX loss. MST-01's percentage is not used, and the liquidity cost is left 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242998"/>
            <a:ext cx="3611880" cy="12982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242998"/>
            <a:ext cx="3611880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425878"/>
            <a:ext cx="3246120" cy="1023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2E7D5B"/>
                </a:solidFill>
                <a:latin typeface="Calibri"/>
              </a:rPr>
              <a:t>SAME BUCKETS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holding stays in Bucket 1 or Bucket 2 even when its price falls; only the amount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2" y="4242998"/>
            <a:ext cx="3611880" cy="12982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2" y="4242998"/>
            <a:ext cx="3611880" cy="7315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425878"/>
            <a:ext cx="3246120" cy="1023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1" i="0">
                <a:solidFill>
                  <a:srgbClr val="2E7D5B"/>
                </a:solidFill>
                <a:latin typeface="Calibri"/>
              </a:rPr>
              <a:t>BOTH SIDES AFTER THE SHOCK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Stressed liquid assets are divided by 20% of the stressed NAV, not of the original NAV.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Above 100% means liquid assets would cover the outflow. STDVNAV-USD's total bucket covers it 3.5 times.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mst_summary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The twelve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Portfolio report: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12 scenarios x 4 funds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5 · THE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portfolio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48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Twelve tests, four funds: the reportable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337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691640"/>
                <a:gridCol w="2057400"/>
                <a:gridCol w="2057400"/>
                <a:gridCol w="2057400"/>
                <a:gridCol w="1965960"/>
              </a:tblGrid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risk factor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PDCNAV-USD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LVNAV-USD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STVNAV-USD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2" b="1">
                          <a:solidFill>
                            <a:srgbClr val="FFFFFF"/>
                          </a:solidFill>
                          <a:latin typeface="Calibri"/>
                        </a:rPr>
                        <a:t>STDVNAV-USD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LST-01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Liquidity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0.34%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0.36%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0.40%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CST-01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0.80%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CST-02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Credit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1">
                          <a:solidFill>
                            <a:srgbClr val="1A1A1A"/>
                          </a:solidFill>
                          <a:latin typeface="Calibri"/>
                        </a:rPr>
                        <a:t>34.18%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1">
                          <a:solidFill>
                            <a:srgbClr val="1A1A1A"/>
                          </a:solidFill>
                          <a:latin typeface="Calibri"/>
                        </a:rPr>
                        <a:t>3.77%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1">
                          <a:solidFill>
                            <a:srgbClr val="1A1A1A"/>
                          </a:solidFill>
                          <a:latin typeface="Calibri"/>
                        </a:rPr>
                        <a:t>5.02%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1">
                          <a:solidFill>
                            <a:srgbClr val="1A1A1A"/>
                          </a:solidFill>
                          <a:latin typeface="Calibri"/>
                        </a:rPr>
                        <a:t>3.58%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FST-01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FX rate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FST-02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FX rate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IST-01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Interest rate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0.56%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RST-01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Level of redemption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84.97%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50.33%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RST-02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Level of redemption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250% / 250%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80% / 225%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30% / 211%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32% / 175%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RST-03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Level of redemption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432% / 432%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230% / 644%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65% / 455%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59% / 317%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SST-01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Spread among indices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0.12%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0.24%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0.86%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MST-01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0.18%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0.36%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1.44%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259872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MST-02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3" b="0">
                          <a:solidFill>
                            <a:srgbClr val="1A1A1A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500% / 500%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160% / 449%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60% / 421%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75" b="0">
                          <a:solidFill>
                            <a:srgbClr val="2E7D5B"/>
                          </a:solidFill>
                          <a:latin typeface="Calibri"/>
                        </a:rPr>
                        <a:t>66% / 351%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04255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2453C"/>
                </a:solidFill>
                <a:latin typeface="Calibri"/>
              </a:rPr>
              <a:t>Percentages are losses as a share of NAV.  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Paired figures are coverage ratios - first bucket / total bucket - where higher is better and anything above 100% means weekly liquid assets cover the outflow.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Two numbers stand out: CST-02 on PDCNAV-USD at 34.2%, where 73% of the fund sits with one issuer, and RST-01 on STDVNAV-USD at 50%, where the single money market fund and 40% aggregate issuer limits stop further selling.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C2453C"/>
                </a:solidFill>
                <a:latin typeface="Calibri"/>
              </a:rPr>
              <a:t>SESSION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079" b="1" i="0">
                <a:solidFill>
                  <a:srgbClr val="FFFFFF"/>
                </a:solidFill>
                <a:latin typeface="Calibri"/>
              </a:rPr>
              <a:t>The files, and the program that reads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39" b="1" i="0">
                <a:solidFill>
                  <a:srgbClr val="9DB4CC"/>
                </a:solidFill>
                <a:latin typeface="Calibri"/>
              </a:rPr>
              <a:t>Workflow:  </a:t>
            </a:r>
            <a:r>
              <a:rPr sz="1439" b="0" i="0">
                <a:solidFill>
                  <a:srgbClr val="FFFFFF"/>
                </a:solidFill>
                <a:latin typeface="Calibri"/>
              </a:rPr>
              <a:t>3 inputs · 9 modules · 4 outputs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6 · THE THREE INPUTS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extracted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3 workbooks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Three input files, three different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570122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3570122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92224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C2453C"/>
                </a:solidFill>
                <a:latin typeface="Calibri"/>
              </a:rPr>
              <a:t>WHAT THE FUND HOLDS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ESMA_MMF_Stress_Input.xlsx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6A6A6A"/>
                </a:solidFill>
                <a:latin typeface="Calibri"/>
              </a:rPr>
              <a:t>143 holdings x 27 columns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One row per holding: identity and issuer, maturity and reset dates, maturity and liquidity buckets, settlement and notice days, ratings, seniority, market value and currency, yield, the issuer's outstanding amount and STS status.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1">
                <a:solidFill>
                  <a:srgbClr val="C2453C"/>
                </a:solidFill>
                <a:latin typeface="Calibri"/>
              </a:rPr>
              <a:t>settlement_days feeds the liquidity buckets; liquidity_bucket feeds RST-01.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0786" y="1572768"/>
            <a:ext cx="3570122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0786" y="1572768"/>
            <a:ext cx="3570122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954" y="1792224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0E2C4B"/>
                </a:solidFill>
                <a:latin typeface="Calibri"/>
              </a:rPr>
              <a:t>WHAT KIND OF FUND IT IS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Fund static.xlsx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6A6A6A"/>
                </a:solidFill>
                <a:latin typeface="Calibri"/>
              </a:rPr>
              <a:t>4 funds x 10 columns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Fund type and NAV type, which select the Article 24 or 25 limits; the professional and retail split that sets the redemption rate; and the two largest investors' share used by RST-03.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1">
                <a:solidFill>
                  <a:srgbClr val="0E2C4B"/>
                </a:solidFill>
                <a:latin typeface="Calibri"/>
              </a:rPr>
              <a:t>nav_override is blank by default: NAV is the sum of market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4644" y="1572768"/>
            <a:ext cx="3570122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4644" y="1572768"/>
            <a:ext cx="3570122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812" y="1792224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WHAT THE REGULATION SAYS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esma_reference.xlsx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0">
                <a:solidFill>
                  <a:srgbClr val="6A6A6A"/>
                </a:solidFill>
                <a:latin typeface="Calibri"/>
              </a:rPr>
              <a:t>27 sheets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76" b="0" i="0">
                <a:solidFill>
                  <a:srgbClr val="1A1A1A"/>
                </a:solidFill>
                <a:latin typeface="Calibri"/>
              </a:rPr>
              <a:t>The ESMA calibration in one workbook: Tables 1-14 from the Guidelines, plus the rules that route each holding to them - liquidity bucket rules, Article limits, tenor maps, credit quality steps and scope by test.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80" b="0" i="1">
                <a:solidFill>
                  <a:srgbClr val="2E7D5B"/>
                </a:solidFill>
                <a:latin typeface="Calibri"/>
              </a:rPr>
              <a:t>Refreshed when ESMA publishes a new annual calibration.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ESMA_MMF_Stress_Input · fund static · esma_reference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6 · ESMA_REFERENCE.XLSX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esma_reference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27 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One workbook holds every ESMA table the tests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391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C2453C"/>
                </a:solidFill>
                <a:latin typeface="Calibri"/>
              </a:rPr>
              <a:t>CALIBRATION TABLES  -  from the ESMA Guidelines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5391759" cy="2800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700119"/>
              </a:tblGrid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54864" marR="54864" marT="9144" marB="9144" anchor="ctr">
                    <a:solidFill>
                      <a:srgbClr val="C2453C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Tables 1-3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bid-ask discount by issuer, rating, maturity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 4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price impact by instrument and sector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Tables 5-6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credit spread: country for government, rating for corporate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 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loss given default: 45% senior, 75% subordinated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Tables 8-9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interest rate shock by currency and maturity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Tables 10-11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FX shock, euro up and euro down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Tables 13-14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redemption outflow, standalone and macro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3007" y="1572768"/>
            <a:ext cx="5391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40" b="1" i="0">
                <a:solidFill>
                  <a:srgbClr val="2E7D5B"/>
                </a:solidFill>
                <a:latin typeface="Calibri"/>
              </a:rPr>
              <a:t>RULE TABLES  -  how each holding reaches the right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33007" y="1883664"/>
          <a:ext cx="5391759" cy="2800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3700119"/>
              </a:tblGrid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4864" marR="54864" marT="9144" marB="9144" anchor="ctr">
                    <a:solidFill>
                      <a:srgbClr val="2E7D5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54864" marR="54864" marT="9144" marB="9144" anchor="ctr">
                    <a:solidFill>
                      <a:srgbClr val="2E7D5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wla_bucket_rules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para 61's qualifying lines and their weights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article_limits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WAM, WAL and liquidity limits by fund type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exclusion_matrix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which instrument each test applies to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tenor_maps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maturity bucket to table column, per table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cqs_mapping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short-term rating to credit quality step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engine_settings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modelling choices used by the engine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0032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1A1A1A"/>
                          </a:solidFill>
                          <a:latin typeface="Calibri"/>
                        </a:rPr>
                        <a:t>_provenance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0">
                          <a:solidFill>
                            <a:srgbClr val="1A1A1A"/>
                          </a:solidFill>
                          <a:latin typeface="Calibri"/>
                        </a:rPr>
                        <a:t>source page in the Guidelines for each sheet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esma_reference.xlsx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6 · THE FOUR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9" b="1" i="0">
                <a:solidFill>
                  <a:srgbClr val="2E7D5B"/>
                </a:solidFill>
                <a:latin typeface="Calibri"/>
              </a:rPr>
              <a:t>EXCEL →  </a:t>
            </a:r>
            <a:r>
              <a:rPr sz="1200" b="1" i="0">
                <a:solidFill>
                  <a:srgbClr val="0E2C4B"/>
                </a:solidFill>
                <a:latin typeface="Calibri"/>
              </a:rPr>
              <a:t>output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60" b="0" i="0">
                <a:solidFill>
                  <a:srgbClr val="6A6A6A"/>
                </a:solidFill>
                <a:latin typeface="Calibri"/>
              </a:rPr>
              <a:t>4 workbooks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Four outputs: two results, two audit trails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64240" cy="2890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360"/>
                <a:gridCol w="2057400"/>
                <a:gridCol w="6126480"/>
              </a:tblGrid>
              <a:tr h="578083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workbook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grain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what it is for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78083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ESMA_MMF_Portfolio_Report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one row per fund per scenario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The reportable result: twelve scenarios x four funds, each with its NAV, its loss or its two coverage figures, and a note on how it was reached.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78083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ESMA_MMF_Position_Report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one row per holding (143)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The nine measures on every holding, next to the inputs behind them - durations, yield, credit quality, bucket and weight. Every portfolio number traces back here.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78083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ESMA_MMF_Scenario_Audit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three sheets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The working behind the redemption tests: how RST-01 was reached, every limit along the sale, and how much of each holding is sold.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78083">
                <a:tc>
                  <a:txBody>
                    <a:bodyPr wrap="square"/>
                    <a:lstStyle/>
                    <a:p>
                      <a:pPr algn="l"/>
                      <a:r>
                        <a:rPr sz="1075" b="1">
                          <a:solidFill>
                            <a:srgbClr val="0E2C4B"/>
                          </a:solidFill>
                          <a:latin typeface="Calibri"/>
                        </a:rPr>
                        <a:t>ESMA_MMF_MST_Audit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two sheets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75" b="0">
                          <a:solidFill>
                            <a:srgbClr val="1A1A1A"/>
                          </a:solidFill>
                          <a:latin typeface="Calibri"/>
                        </a:rPr>
                        <a:t>The working behind the macro tests: the market shock leg by leg, the liquidity cost, liquid assets before and after the shock, and each holding's contribution.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591202"/>
            <a:ext cx="11057839" cy="731520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591202"/>
            <a:ext cx="82296" cy="7315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591202"/>
            <a:ext cx="105091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2E7D5B"/>
                </a:solidFill>
                <a:latin typeface="Calibri"/>
              </a:rPr>
              <a:t>The audit workbooks explain results; they never change them.  </a:t>
            </a:r>
            <a:r>
              <a:rPr sz="1320" b="0" i="0">
                <a:solidFill>
                  <a:srgbClr val="1A1A1A"/>
                </a:solidFill>
                <a:latin typeface="Calibri"/>
              </a:rPr>
              <a:t>They record what the engine calculated, and a test confirms their figures still match the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Every workbook is checked before a run can finish, so a file Excel would refuse to open never reaches the output folder.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6 ·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Three files in, one engine, four files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355574"/>
                </a:solidFill>
                <a:latin typeface="Calibri"/>
              </a:rPr>
              <a:t>EXHIBIT 8</a:t>
            </a:r>
            <a:r>
              <a:rPr sz="1019" b="0" i="1">
                <a:solidFill>
                  <a:srgbClr val="6A6A6A"/>
                </a:solidFill>
                <a:latin typeface="Calibri"/>
              </a:rPr>
              <a:t>   how the files and modules connect</a:t>
            </a:r>
          </a:p>
        </p:txBody>
      </p:sp>
      <p:pic>
        <p:nvPicPr>
          <p:cNvPr id="6" name="Picture 5" descr="esma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828800"/>
            <a:ext cx="10972800" cy="36049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One straight line: load the ESMA tables, load the holdings, measure each one, classify it, run the twelve scenarios, write and check the outputs.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engine/esma_mmf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SESSION 6 · MODULE BY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Nine engine modules and what each one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1064239" cy="3977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6035040"/>
                <a:gridCol w="3154680"/>
              </a:tblGrid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reference.py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Loads esma_reference.xlsx and answers every lookup: the shock for a holding, the limit for a fund type, the bucket rule, the table column.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All ESMA values come through here.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loader.py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Reads the position file and fund static, joins them, and works out residual days, rate and spread duration, WAM and WAL for each holding.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Rate duration to reset; spread to maturity.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measures.py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Calculates the nine position measures. A measure that does not apply is left blank.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One holding in, nine numbers out.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classify.py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Places each holding in a para 61 liquidity bucket and tests every portfolio limit: WAM, WAL, daily and weekly liquidity, Articles 16, 17 and 18.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The same test at rest and during RST-01.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scenarios.py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Runs the twelve tests.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Adds up measures; adds no new shocks.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optimise.py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Finds RST-01: the largest weekly sale that keeps every limit, re-tested along the way.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The reported RST-01 figure.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report.py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Writes the portfolio and position workbooks and checks each file will open in Excel.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Its check gates the whole run.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audit.py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Writes the RST working: summary, limits along the sale, amount sold per holding.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Explains, never changes.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97763">
                <a:tc>
                  <a:txBody>
                    <a:bodyPr wrap="square"/>
                    <a:lstStyle/>
                    <a:p>
                      <a:pPr algn="l"/>
                      <a:r>
                        <a:rPr sz="1030" b="1">
                          <a:solidFill>
                            <a:srgbClr val="0E2C4B"/>
                          </a:solidFill>
                          <a:latin typeface="Calibri"/>
                        </a:rPr>
                        <a:t>mst_audit.py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1A1A1A"/>
                          </a:solidFill>
                          <a:latin typeface="Calibri"/>
                        </a:rPr>
                        <a:t>Writes the MST working: shock legs, liquidity cost, stressed buckets.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30" b="0">
                          <a:solidFill>
                            <a:srgbClr val="355574"/>
                          </a:solidFill>
                          <a:latin typeface="Calibri"/>
                        </a:rPr>
                        <a:t>Explains, never changes.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run_stress_test.py runs them in order and is the single entry point: it loads, measures, runs, writes all four workbooks and stops if any of them would not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Excel: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engine/esma_mmf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1" i="0">
                <a:solidFill>
                  <a:srgbClr val="C2453C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What the workflow guarantees, and what it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72768"/>
            <a:ext cx="357012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3570122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28800"/>
            <a:ext cx="3291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2E7D5B"/>
                </a:solidFill>
                <a:latin typeface="Calibri"/>
              </a:rPr>
              <a:t>Traceable to the regulation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Every shock and limit comes from the ESMA Guidelines and the MMF Regulation, held in one reference workbook. Modelling choices are named settings that can be reviewed and changed.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0786" y="1572768"/>
            <a:ext cx="357012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0786" y="1572768"/>
            <a:ext cx="3570122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1954" y="1828800"/>
            <a:ext cx="3291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0E2C4B"/>
                </a:solidFill>
                <a:latin typeface="Calibri"/>
              </a:rPr>
              <a:t>Checked wherever a check is possible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143 holdings, 129 rule and known-answer tests, RST-01 re-tested at every step of its sale, and an integrity check on every workbook written.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4644" y="1572768"/>
            <a:ext cx="357012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54644" y="1572768"/>
            <a:ext cx="3570122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812" y="1828800"/>
            <a:ext cx="3291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C2453C"/>
                </a:solidFill>
                <a:latin typeface="Calibri"/>
              </a:rPr>
              <a:t>Not reconciled to an outside source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funds are illustrative, so there is no third-party figure to match. In its place: parameters checked against the Guidelines, known-answer tests on single holdings, and every fund confirmed compliant before stress.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059936"/>
          <a:ext cx="7498080" cy="1315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754880"/>
              </a:tblGrid>
              <a:tr h="328818"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to change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64" b="1">
                          <a:solidFill>
                            <a:srgbClr val="FFFFFF"/>
                          </a:solidFill>
                          <a:latin typeface="Calibri"/>
                        </a:rPr>
                        <a:t>do this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2881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 calibration number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edit esma_reference.xlsx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881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a modelling choice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change it in engine_settings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8818"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the holdings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20" b="0">
                          <a:solidFill>
                            <a:srgbClr val="1A1A1A"/>
                          </a:solidFill>
                          <a:latin typeface="Calibri"/>
                        </a:rPr>
                        <a:t>rerun the workflow; every output is rebuilt and re-checked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66928" y="566928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6928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6928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380" b="0" i="0">
                <a:solidFill>
                  <a:srgbClr val="1A1A1A"/>
                </a:solidFill>
                <a:latin typeface="Calibri"/>
              </a:rPr>
              <a:t>Every result traces back to a published ESMA table and a named holding.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Regulation (EU) 2017/1131 Art 28; ESMA50-481369926-30848 Guidelines, paras 50-65 and Tables 1-14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ESMA MMF Calibrated Stress Testing</dc:title>
  <dc:subject>Regulation (EU) 2017/1131 Article 28</dc:subject>
  <dc:creator>Amit</dc:creator>
  <cp:keywords/>
  <dc:description/>
  <cp:lastModifiedBy>Amit</cp:lastModifiedBy>
  <cp:revision>1</cp:revision>
  <dcterms:created xsi:type="dcterms:W3CDTF">2013-01-27T09:14:16Z</dcterms:created>
  <dcterms:modified xsi:type="dcterms:W3CDTF">2013-01-27T09:15:58Z</dcterms:modified>
  <cp:category/>
</cp:coreProperties>
</file>